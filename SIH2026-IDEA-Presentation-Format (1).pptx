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1pPr>
    <a:lvl2pPr marL="4572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5pPr>
    <a:lvl6pPr marL="22860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6pPr>
    <a:lvl7pPr marL="27432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7pPr>
    <a:lvl8pPr marL="32004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8pPr>
    <a:lvl9pPr marL="36576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pos="2160" orient="horz"/>
        <p:guide pos="384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handoutMasters/_rels/handoutMaster1.xml.rels><?xml version="1.0" encoding="UTF-8" standalone="yes"?>								<Relationships xmlns="http://schemas.openxmlformats.org/package/2006/relationships">								<Relationship Id="rId1" Type="http://schemas.openxmlformats.org/officeDocument/2006/relationships/theme" Target="../theme/theme0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6790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640062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C4D5ADD5-2BBC-4A94-8F86-D9013941F742}" type="datetimeFigureOut">
              <a:rPr lang="en-US"/>
              <a:t>6/2/2026</a:t>
            </a:fld>
            <a:endParaRPr lang="en-US"/>
          </a:p>
        </p:txBody>
      </p:sp>
      <p:sp>
        <p:nvSpPr>
          <p:cNvPr id="108662155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31106581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338389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16814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ＭＳ Ｐゴシック"/>
      </a:defRPr>
    </a:lvl1pPr>
    <a:lvl2pPr marL="4572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5pPr>
    <a:lvl6pPr marL="22860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460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301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9228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E72A2B-11F8-1469-15D1-14D385E70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5604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8757002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35192350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9892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7205638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67907514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2590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1918286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91318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4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6445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6183423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282211271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5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1238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5437842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219663379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6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6865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9353779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738251558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7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675764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8"/>
            <a:ext cx="103632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01637397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198721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60792E3-D524-454C-8AFD-A91972900BCB}" type="datetime1">
              <a:rPr lang="en-US"/>
              <a:t>6/2/2026</a:t>
            </a:fld>
            <a:endParaRPr lang="en-US"/>
          </a:p>
        </p:txBody>
      </p:sp>
      <p:sp>
        <p:nvSpPr>
          <p:cNvPr id="990735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656976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2042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7058943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381531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08B7524-32A2-4C20-A58C-BC3BAA1042FC}" type="datetime1">
              <a:rPr lang="en-US"/>
              <a:t>6/2/2026</a:t>
            </a:fld>
            <a:endParaRPr lang="en-US"/>
          </a:p>
        </p:txBody>
      </p:sp>
      <p:sp>
        <p:nvSpPr>
          <p:cNvPr id="42163002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7023828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461127" name="Title 1"/>
          <p:cNvSpPr>
            <a:spLocks noGrp="1"/>
          </p:cNvSpPr>
          <p:nvPr>
            <p:ph type="title"/>
          </p:nvPr>
        </p:nvSpPr>
        <p:spPr bwMode="auto"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8846769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787339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E994447-D6B2-43BB-A877-57F1A267B999}" type="datetime1">
              <a:rPr lang="en-US"/>
              <a:t>6/2/2026</a:t>
            </a:fld>
            <a:endParaRPr lang="en-US"/>
          </a:p>
        </p:txBody>
      </p:sp>
      <p:sp>
        <p:nvSpPr>
          <p:cNvPr id="18824588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8194530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2392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9686402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6364638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139086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8920E16-BD35-483C-AA6B-346FC7E46DEA}" type="datetime1">
              <a:rPr lang="en-US"/>
              <a:t>6/2/2026</a:t>
            </a:fld>
            <a:endParaRPr lang="en-US"/>
          </a:p>
        </p:txBody>
      </p:sp>
      <p:sp>
        <p:nvSpPr>
          <p:cNvPr id="18418265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7975721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2660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408367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8704229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1382329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727268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17840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EAC6F8-5103-4FC0-A69E-5C6AE6469DA8}" type="datetime1">
              <a:rPr lang="en-US"/>
              <a:t>6/2/2026</a:t>
            </a:fld>
            <a:endParaRPr lang="en-US"/>
          </a:p>
        </p:txBody>
      </p:sp>
      <p:sp>
        <p:nvSpPr>
          <p:cNvPr id="18716398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4528163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6916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556986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60C6921-0627-4C8F-83D5-0CF936D2FFDD}" type="datetime1">
              <a:rPr lang="en-US"/>
              <a:t>6/2/2026</a:t>
            </a:fld>
            <a:endParaRPr lang="en-US"/>
          </a:p>
        </p:txBody>
      </p:sp>
      <p:sp>
        <p:nvSpPr>
          <p:cNvPr id="19318328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6373329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5225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F08AD7-8103-40F8-983C-E2BA6BB9CBE0}" type="datetime1">
              <a:rPr lang="en-US"/>
              <a:t>6/2/2026</a:t>
            </a:fld>
            <a:endParaRPr lang="en-US"/>
          </a:p>
        </p:txBody>
      </p:sp>
      <p:sp>
        <p:nvSpPr>
          <p:cNvPr id="1370770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9483965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986848" name="Title 1"/>
          <p:cNvSpPr>
            <a:spLocks noGrp="1"/>
          </p:cNvSpPr>
          <p:nvPr>
            <p:ph type="title"/>
          </p:nvPr>
        </p:nvSpPr>
        <p:spPr bwMode="auto"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27180845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692123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94048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DF8C06B4-9380-4A4D-AF49-A3596E17DAF5}" type="datetime1">
              <a:rPr lang="en-US"/>
              <a:t>6/2/2026</a:t>
            </a:fld>
            <a:endParaRPr lang="en-US"/>
          </a:p>
        </p:txBody>
      </p:sp>
      <p:sp>
        <p:nvSpPr>
          <p:cNvPr id="4674989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3791436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403117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49784329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en-US"/>
          </a:p>
        </p:txBody>
      </p:sp>
      <p:sp>
        <p:nvSpPr>
          <p:cNvPr id="70968721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912817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F7FDEF1-C582-4E22-9E77-D68326471F28}" type="datetime1">
              <a:rPr lang="en-US"/>
              <a:t>6/2/2026</a:t>
            </a:fld>
            <a:endParaRPr lang="en-US"/>
          </a:p>
        </p:txBody>
      </p:sp>
      <p:sp>
        <p:nvSpPr>
          <p:cNvPr id="4651916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323346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1000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4057295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197887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3C3A68-6922-42D3-8905-ECC2D82A3469}" type="datetime1">
              <a:rPr lang="en-US"/>
              <a:t>6/2/2026</a:t>
            </a:fld>
            <a:endParaRPr lang="en-US"/>
          </a:p>
        </p:txBody>
      </p:sp>
      <p:sp>
        <p:nvSpPr>
          <p:cNvPr id="8266232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012946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86636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41"/>
            <a:ext cx="27432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3636376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016919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B69E9F4-7604-4950-A8B2-8ACDEDB1506E}" type="datetime1">
              <a:rPr lang="en-US"/>
              <a:t>6/2/2026</a:t>
            </a:fld>
            <a:endParaRPr lang="en-US"/>
          </a:p>
        </p:txBody>
      </p:sp>
      <p:sp>
        <p:nvSpPr>
          <p:cNvPr id="1881602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7280197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534799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86556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163814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>
            <a:lvl1pPr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780A9602-A9A9-453F-AEF1-37B5837E02CD}" type="datetime1">
              <a:rPr lang="en-US"/>
              <a:t>6/2/2026</a:t>
            </a:fld>
            <a:endParaRPr lang="en-US"/>
          </a:p>
        </p:txBody>
      </p:sp>
      <p:sp>
        <p:nvSpPr>
          <p:cNvPr id="143638735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93271988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1"/>
  <p:txStyles>
    <p:titleStyle>
      <a:lvl1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2pPr>
      <a:lvl3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3pPr>
      <a:lvl4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4pPr>
      <a:lvl5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5pPr>
      <a:lvl6pPr marL="4572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6pPr>
      <a:lvl7pPr marL="9144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7pPr>
      <a:lvl8pPr marL="13716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8pPr>
      <a:lvl9pPr marL="18288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9pPr>
    </p:titleStyle>
    <p:bodyStyle>
      <a:lvl1pPr marL="342900" indent="-342900" algn="l" defTabSz="457200" rtl="0">
        <a:spcBef>
          <a:spcPts val="0"/>
        </a:spcBef>
        <a:spcAft>
          <a:spcPts val="0"/>
        </a:spcAft>
        <a:buFont typeface="Arial"/>
        <a:buChar char="•"/>
        <a:defRPr sz="32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marL="742950" indent="-285750" algn="l" defTabSz="457200" rtl="0">
        <a:spcBef>
          <a:spcPts val="0"/>
        </a:spcBef>
        <a:spcAft>
          <a:spcPts val="0"/>
        </a:spcAft>
        <a:buFont typeface="Arial"/>
        <a:buChar char="–"/>
        <a:defRPr sz="2800">
          <a:solidFill>
            <a:schemeClr val="tx1"/>
          </a:solidFill>
          <a:latin typeface="TradeGothic"/>
          <a:ea typeface="ＭＳ Ｐゴシック"/>
          <a:cs typeface="+mn-cs"/>
        </a:defRPr>
      </a:lvl2pPr>
      <a:lvl3pPr marL="1143000" indent="-228600" algn="l" defTabSz="457200" rtl="0">
        <a:spcBef>
          <a:spcPts val="0"/>
        </a:spcBef>
        <a:spcAft>
          <a:spcPts val="0"/>
        </a:spcAft>
        <a:buFont typeface="Arial"/>
        <a:buChar char="•"/>
        <a:defRPr sz="2400">
          <a:solidFill>
            <a:schemeClr val="tx1"/>
          </a:solidFill>
          <a:latin typeface="TradeGothic"/>
          <a:ea typeface="ＭＳ Ｐゴシック"/>
          <a:cs typeface="+mn-cs"/>
        </a:defRPr>
      </a:lvl3pPr>
      <a:lvl4pPr marL="1600200" indent="-228600" algn="l" defTabSz="457200" rtl="0">
        <a:spcBef>
          <a:spcPts val="0"/>
        </a:spcBef>
        <a:spcAft>
          <a:spcPts val="0"/>
        </a:spcAft>
        <a:buFont typeface="Arial"/>
        <a:buChar char="–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4pPr>
      <a:lvl5pPr marL="2057400" indent="-228600" algn="l" defTabSz="457200" rtl="0">
        <a:spcBef>
          <a:spcPts val="0"/>
        </a:spcBef>
        <a:spcAft>
          <a:spcPts val="0"/>
        </a:spcAft>
        <a:buFont typeface="Arial"/>
        <a:buChar char="»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803829275" name="Rectangle 2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1138515" name="Freeform: Shape 2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 fill="norm" stroke="1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pic>
        <p:nvPicPr>
          <p:cNvPr id="1323029362" name="Picture 4"/>
          <p:cNvPicPr>
            <a:picLocks noChangeAspect="1"/>
          </p:cNvPicPr>
          <p:nvPr/>
        </p:nvPicPr>
        <p:blipFill rotWithShape="1">
          <a:blip r:embed="rId3"/>
          <a:srcRect l="0" t="0" r="59916" b="0"/>
          <a:stretch/>
        </p:blipFill>
        <p:spPr bwMode="auto"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84134342" name="Subtitle 3"/>
          <p:cNvSpPr>
            <a:spLocks noGrp="1"/>
          </p:cNvSpPr>
          <p:nvPr>
            <p:ph type="subTitle" idx="1"/>
          </p:nvPr>
        </p:nvSpPr>
        <p:spPr bwMode="auto">
          <a:xfrm>
            <a:off x="1245686" y="648614"/>
            <a:ext cx="8534400" cy="1752599"/>
          </a:xfrm>
        </p:spPr>
        <p:txBody>
          <a:bodyPr/>
          <a:lstStyle/>
          <a:p>
            <a:pPr>
              <a:defRPr/>
            </a:pPr>
            <a:endParaRPr lang="en-US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b="1">
                <a:solidFill>
                  <a:schemeClr val="tx1"/>
                </a:solidFill>
                <a:latin typeface="Times New Roman"/>
                <a:cs typeface="Times New Roman"/>
              </a:rPr>
              <a:t>TITLE PAGE</a:t>
            </a:r>
            <a:endParaRPr lang="en-IN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746442911" name="Title 7"/>
          <p:cNvSpPr>
            <a:spLocks noGrp="1"/>
          </p:cNvSpPr>
          <p:nvPr>
            <p:ph type="ctrTitle"/>
          </p:nvPr>
        </p:nvSpPr>
        <p:spPr bwMode="auto">
          <a:xfrm>
            <a:off x="331286" y="-526757"/>
            <a:ext cx="10363200" cy="2076450"/>
          </a:xfrm>
        </p:spPr>
        <p:txBody>
          <a:bodyPr/>
          <a:lstStyle/>
          <a:p>
            <a:pPr>
              <a:defRPr/>
            </a:pPr>
            <a:r>
              <a:rPr lang="en-US" sz="4000" b="1">
                <a:solidFill>
                  <a:schemeClr val="tx2"/>
                </a:solidFill>
                <a:latin typeface="Garamond"/>
              </a:rPr>
              <a:t>SMART INDIA HACKATHON </a:t>
            </a:r>
            <a:r>
              <a:rPr lang="en-US" sz="4000" b="1">
                <a:solidFill>
                  <a:schemeClr val="tx2"/>
                </a:solidFill>
                <a:latin typeface="Garamond"/>
              </a:rPr>
              <a:t>2026</a:t>
            </a:r>
            <a:endParaRPr lang="en-IN" sz="4000" b="1">
              <a:solidFill>
                <a:schemeClr val="tx2"/>
              </a:solidFill>
              <a:latin typeface="Garamond"/>
            </a:endParaRPr>
          </a:p>
        </p:txBody>
      </p:sp>
      <p:sp>
        <p:nvSpPr>
          <p:cNvPr id="2076456061" name="TextBox 9"/>
          <p:cNvSpPr txBox="1"/>
          <p:nvPr/>
        </p:nvSpPr>
        <p:spPr bwMode="auto"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n-US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400" b="1">
                <a:latin typeface="Arial"/>
                <a:cs typeface="Arial"/>
              </a:rPr>
              <a:t>Problem Statement ID –</a:t>
            </a:r>
            <a:endParaRPr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400" b="1">
                <a:latin typeface="Arial"/>
                <a:cs typeface="Arial"/>
              </a:rPr>
              <a:t>Problem Statement Title-</a:t>
            </a:r>
            <a:endParaRPr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400" b="1">
                <a:latin typeface="Arial"/>
                <a:cs typeface="Arial"/>
              </a:rPr>
              <a:t>Theme-</a:t>
            </a:r>
            <a:endParaRPr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400" b="1">
                <a:latin typeface="Arial"/>
                <a:cs typeface="Arial"/>
              </a:rPr>
              <a:t>PS Category- Software/Hardware</a:t>
            </a:r>
            <a:endParaRPr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400" b="1">
                <a:latin typeface="Arial"/>
                <a:cs typeface="Arial"/>
              </a:rPr>
              <a:t>Team ID-</a:t>
            </a:r>
            <a:endParaRPr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400" b="1">
                <a:latin typeface="Arial"/>
                <a:cs typeface="Arial"/>
              </a:rPr>
              <a:t>Team Name (Registered on portal)</a:t>
            </a:r>
            <a:endParaRPr lang="en-IN" sz="2400" b="1">
              <a:latin typeface="Arial"/>
              <a:cs typeface="Arial"/>
            </a:endParaRPr>
          </a:p>
        </p:txBody>
      </p:sp>
      <p:pic>
        <p:nvPicPr>
          <p:cNvPr id="2000437650" name="Picture 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329324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2302925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6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SDMS</a:t>
            </a:r>
            <a:br>
              <a:rPr lang="en-US" sz="1600" b="1">
                <a:latin typeface="Times New Roman"/>
                <a:ea typeface="ＭＳ Ｐゴシック"/>
                <a:cs typeface="Times New Roman"/>
              </a:rPr>
            </a:br>
            <a:r>
              <a:rPr lang="en-US" sz="16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A secure, intelligent, and case-centric platform for managing</a:t>
            </a:r>
            <a:br>
              <a:rPr lang="en-US" sz="16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US" sz="16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 sensitive legal and investigation documents</a:t>
            </a:r>
            <a:r>
              <a:rPr lang="en-US" sz="16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600"/>
          </a:p>
        </p:txBody>
      </p:sp>
      <p:sp>
        <p:nvSpPr>
          <p:cNvPr id="967583278" name="TextBox 8"/>
          <p:cNvSpPr txBox="1">
            <a:spLocks noChangeArrowheads="1"/>
          </p:cNvSpPr>
          <p:nvPr/>
        </p:nvSpPr>
        <p:spPr bwMode="auto">
          <a:xfrm flipH="0" flipV="0">
            <a:off x="0" y="1516771"/>
            <a:ext cx="3676119" cy="3657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b="1">
                <a:solidFill>
                  <a:schemeClr val="tx1"/>
                </a:solidFill>
              </a:rPr>
              <a:t>PROBLEM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Scattered Document Storage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Unauthorized Access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Document Tampering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Difficulty in Searching Scanned Documents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Lack of Document Version History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Manual Document Processing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Uncontrolled Document Sharing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Lack of Accountability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Difficulty Tracking Investigation Progress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453546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52541584" name="Footer Placeholder 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169395309" name="Oval 9" descr="Your startup LOGO"/>
          <p:cNvSpPr/>
          <p:nvPr/>
        </p:nvSpPr>
        <p:spPr bwMode="auto"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Your Team Name</a:t>
            </a:r>
            <a:endParaRPr lang="en-IN"/>
          </a:p>
        </p:txBody>
      </p:sp>
      <p:pic>
        <p:nvPicPr>
          <p:cNvPr id="1033543830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5" y="0"/>
            <a:ext cx="2249850" cy="1062337"/>
          </a:xfrm>
          <a:prstGeom prst="rect">
            <a:avLst/>
          </a:prstGeom>
        </p:spPr>
      </p:pic>
      <p:sp>
        <p:nvSpPr>
          <p:cNvPr id="50724140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008749" y="1490545"/>
            <a:ext cx="3678620" cy="3984735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How It Addresses the Problem</a:t>
            </a:r>
            <a:endParaRPr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Reduces scattered and unorganized records.</a:t>
            </a:r>
            <a:endParaRPr lang="en-US" sz="1800" b="0" i="0" u="none" strike="noStrike" cap="none" spc="0">
              <a:solidFill>
                <a:schemeClr val="tx1"/>
              </a:solidFill>
              <a:latin typeface="TradeGothic"/>
              <a:ea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Prevents unauthorized access.</a:t>
            </a:r>
            <a:endParaRPr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Detects possible document tampering.</a:t>
            </a:r>
            <a:endParaRPr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Makes scanned documents searchable.</a:t>
            </a:r>
            <a:endParaRPr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Improves accountability and traceability.</a:t>
            </a:r>
            <a:endParaRPr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Reduces manual document-processing effort.</a:t>
            </a:r>
            <a:endParaRPr sz="1800"/>
          </a:p>
        </p:txBody>
      </p:sp>
      <p:sp>
        <p:nvSpPr>
          <p:cNvPr id="1827847110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8114352" y="1516772"/>
            <a:ext cx="3651968" cy="3932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indent="0">
              <a:buFont typeface="Arial"/>
              <a:buNone/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Innovation &amp; Uniqueness</a:t>
            </a:r>
            <a:endParaRPr sz="1800"/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Combines security + OCR + AI + investigation workflows.</a:t>
            </a:r>
            <a:endParaRPr lang="en-US"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Case-centric organization instead of isolated files.</a:t>
            </a:r>
            <a:endParaRPr lang="en-US"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Human-controlled AI assistance for sensitive records.</a:t>
            </a:r>
            <a:endParaRPr lang="en-US"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Integrity verification with document history.</a:t>
            </a:r>
            <a:endParaRPr lang="en-US"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Modular and self-hosted architecture.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758325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983107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TECHNICAL APPROACH</a:t>
            </a:r>
            <a:endParaRPr/>
          </a:p>
        </p:txBody>
      </p:sp>
      <p:sp>
        <p:nvSpPr>
          <p:cNvPr id="1596657402" name="TextBox 8"/>
          <p:cNvSpPr txBox="1">
            <a:spLocks noChangeArrowheads="1"/>
          </p:cNvSpPr>
          <p:nvPr/>
        </p:nvSpPr>
        <p:spPr bwMode="auto">
          <a:xfrm flipH="0" flipV="0">
            <a:off x="8712072" y="1059579"/>
            <a:ext cx="3319661" cy="4298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sz="2400" b="1"/>
              <a:t>TECH STACK USED: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Frontend: Next.js, TypeScript, Tailwind CSS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Backend: Node.js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Database: PostgreSQL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ORM: Prisma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File Storage: MinIO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OCR: Tesseract OCR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Security: Role-Based Access Control (RBAC), SHA-256 Hashing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AI: AI-assisted summarization, classification, and information extraction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  <p:sp>
        <p:nvSpPr>
          <p:cNvPr id="157399206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2102362910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00537413" name="Oval 10" descr="Your startup LOGO"/>
          <p:cNvSpPr/>
          <p:nvPr/>
        </p:nvSpPr>
        <p:spPr bwMode="auto"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Your Team Name</a:t>
            </a:r>
            <a:endParaRPr lang="en-IN"/>
          </a:p>
        </p:txBody>
      </p:sp>
      <p:pic>
        <p:nvPicPr>
          <p:cNvPr id="1419729115" name="Picture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544902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8553393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FEASIBILITY AND VIABILITY</a:t>
            </a:r>
            <a:endParaRPr/>
          </a:p>
        </p:txBody>
      </p:sp>
      <p:sp>
        <p:nvSpPr>
          <p:cNvPr id="1564066260" name="TextBox 8"/>
          <p:cNvSpPr txBox="1">
            <a:spLocks noChangeArrowheads="1"/>
          </p:cNvSpPr>
          <p:nvPr/>
        </p:nvSpPr>
        <p:spPr bwMode="auto">
          <a:xfrm flipH="0" flipV="0">
            <a:off x="264438" y="1515462"/>
            <a:ext cx="3220231" cy="3383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i="0" u="none" strike="noStrik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Feasibility</a:t>
            </a:r>
            <a:endParaRPr sz="1800" b="0" i="0" u="none" strike="noStrike" cap="none" spc="0">
              <a:ln>
                <a:noFill/>
              </a:ln>
              <a:solidFill>
                <a:prstClr val="black"/>
              </a:solidFill>
              <a:latin typeface="Arial"/>
              <a:ea typeface="ＭＳ Ｐゴシック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Technical: Uses established open-source technologies.</a:t>
            </a:r>
            <a:endParaRPr sz="1800" b="0" i="0" u="none" strike="noStrike" cap="none" spc="0">
              <a:ln>
                <a:noFill/>
              </a:ln>
              <a:solidFill>
                <a:prstClr val="black"/>
              </a:solidFill>
              <a:latin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Economic: Reduces licensing costs.</a:t>
            </a:r>
            <a:endParaRPr sz="1800" b="0" i="0" u="none" strike="noStrike" cap="none" spc="0">
              <a:ln>
                <a:noFill/>
              </a:ln>
              <a:solidFill>
                <a:prstClr val="black"/>
              </a:solidFill>
              <a:latin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Operational: Web-based and easy for authorized users to access.</a:t>
            </a:r>
            <a:endParaRPr sz="1800" b="0" i="0" u="none" strike="noStrike" cap="none" spc="0">
              <a:ln>
                <a:noFill/>
              </a:ln>
              <a:solidFill>
                <a:prstClr val="black"/>
              </a:solidFill>
              <a:latin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Scalable: Modular services can grow independently.</a:t>
            </a:r>
            <a:endParaRPr sz="1800" b="0" i="0" u="none" strike="noStrike" cap="none" spc="0">
              <a:ln>
                <a:noFill/>
              </a:ln>
              <a:solidFill>
                <a:prstClr val="black"/>
              </a:solidFill>
              <a:latin typeface="Arial"/>
              <a:cs typeface="Arial"/>
            </a:endParaRPr>
          </a:p>
          <a:p>
            <a:pPr lvl="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800" b="0" i="0" u="none" strike="noStrike" cap="none" spc="0">
              <a:ln>
                <a:noFill/>
              </a:ln>
              <a:solidFill>
                <a:prstClr val="black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199317494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4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844693248" name="Footer Placeholder 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sp>
        <p:nvSpPr>
          <p:cNvPr id="905341329" name="Oval 11" descr="Your startup LOGO"/>
          <p:cNvSpPr/>
          <p:nvPr/>
        </p:nvSpPr>
        <p:spPr bwMode="auto"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Your Team Name</a:t>
            </a:r>
            <a:endParaRPr lang="en-IN"/>
          </a:p>
        </p:txBody>
      </p:sp>
      <p:pic>
        <p:nvPicPr>
          <p:cNvPr id="1007062094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6947879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598479" y="1601188"/>
            <a:ext cx="3908244" cy="3860085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Potential Challenges &amp; Risks</a:t>
            </a:r>
            <a:endParaRPr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Unauthorized access.</a:t>
            </a:r>
            <a:endParaRPr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Document tampering.</a:t>
            </a:r>
            <a:endParaRPr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Large file storage.</a:t>
            </a:r>
            <a:endParaRPr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OCR errors in poor-quality scans.</a:t>
            </a:r>
            <a:endParaRPr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AI-generated inaccuracies.</a:t>
            </a:r>
            <a:endParaRPr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Sensitive data exposure.</a:t>
            </a:r>
            <a:endParaRPr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System downtime.</a:t>
            </a:r>
            <a:endParaRPr sz="1800"/>
          </a:p>
        </p:txBody>
      </p:sp>
      <p:sp>
        <p:nvSpPr>
          <p:cNvPr id="2076911243" name=""/>
          <p:cNvSpPr/>
          <p:nvPr/>
        </p:nvSpPr>
        <p:spPr bwMode="auto">
          <a:xfrm flipH="0" flipV="0">
            <a:off x="7661652" y="1601188"/>
            <a:ext cx="3428396" cy="420660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Strategies to Overcome</a:t>
            </a:r>
            <a:endParaRPr b="1"/>
          </a:p>
          <a:p>
            <a:pPr marL="283879" indent="-283879">
              <a:buFont typeface="Arial"/>
              <a:buChar char="•"/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trong authentication and RBAC.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SHA-256 verification and version history.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MinIO-based scalable object storage.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Image preprocessing and human verification.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Human review of AI-generated results.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Encryption and secure access policies.</a:t>
            </a:r>
            <a:endParaRPr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Backups, monitoring, and recovery procedures.</a:t>
            </a:r>
            <a:endParaRPr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645721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5102549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IMPACT AND BENEFITS</a:t>
            </a:r>
            <a:endParaRPr/>
          </a:p>
        </p:txBody>
      </p:sp>
      <p:sp>
        <p:nvSpPr>
          <p:cNvPr id="390354922" name="TextBox 8"/>
          <p:cNvSpPr txBox="1">
            <a:spLocks noChangeArrowheads="1"/>
          </p:cNvSpPr>
          <p:nvPr/>
        </p:nvSpPr>
        <p:spPr bwMode="auto">
          <a:xfrm flipH="0" flipV="0">
            <a:off x="314796" y="1804626"/>
            <a:ext cx="3464328" cy="2286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Target Audience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Law Enforcement Agencies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Courts and Legal Departments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Investigative Organizations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Prosecutors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Supervisors and Auditors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Records Management Personnel</a:t>
            </a:r>
            <a:endParaRPr/>
          </a:p>
        </p:txBody>
      </p:sp>
      <p:sp>
        <p:nvSpPr>
          <p:cNvPr id="18714396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5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1168939648" name="Footer Placeholder 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sp>
        <p:nvSpPr>
          <p:cNvPr id="1089964446" name="Oval 11" descr="Your startup LOGO"/>
          <p:cNvSpPr/>
          <p:nvPr/>
        </p:nvSpPr>
        <p:spPr bwMode="auto"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Your Team Name</a:t>
            </a:r>
            <a:endParaRPr lang="en-IN"/>
          </a:p>
        </p:txBody>
      </p:sp>
      <p:pic>
        <p:nvPicPr>
          <p:cNvPr id="211752814" name="Pictur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9952966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779125" y="1690689"/>
            <a:ext cx="3481261" cy="5030787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Potential Impact</a:t>
            </a:r>
            <a:endParaRPr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Faster access to important case records.</a:t>
            </a:r>
            <a:endParaRPr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Improved security of confidential documents.</a:t>
            </a:r>
            <a:endParaRPr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Better coordination between authorized departments.</a:t>
            </a:r>
            <a:endParaRPr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Reduced paperwork and manual processing.</a:t>
            </a:r>
            <a:endParaRPr sz="1800" b="0" i="0" u="none" strike="noStrike" cap="none" spc="0">
              <a:solidFill>
                <a:schemeClr val="tx1"/>
              </a:solidFill>
              <a:latin typeface="TradeGothic"/>
              <a:cs typeface="TradeGothic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TradeGothic"/>
                <a:ea typeface="TradeGothic"/>
                <a:cs typeface="TradeGothic"/>
              </a:rPr>
              <a:t>Improved investigation transparency.</a:t>
            </a:r>
            <a:endParaRPr sz="1800"/>
          </a:p>
        </p:txBody>
      </p:sp>
      <p:sp>
        <p:nvSpPr>
          <p:cNvPr id="510476737" name=""/>
          <p:cNvSpPr/>
          <p:nvPr/>
        </p:nvSpPr>
        <p:spPr bwMode="auto">
          <a:xfrm flipH="0" flipV="0">
            <a:off x="7260387" y="1693516"/>
            <a:ext cx="4181064" cy="33836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en-US" sz="18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Benefits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Security: Protects sensitive records.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Efficiency: Faster storage and retrieval.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Searchability: Finds information inside scanned documents.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Integrity: Helps detect unauthorized changes.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Transparency: Maintains audit history.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Economic: Reduces paper and manual processing costs.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Environmental: Supports paperless workflows.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648126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10251607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RESEARCH  AND REFERENCES</a:t>
            </a:r>
            <a:endParaRPr/>
          </a:p>
        </p:txBody>
      </p:sp>
      <p:sp>
        <p:nvSpPr>
          <p:cNvPr id="905780068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2800">
                <a:solidFill>
                  <a:prstClr val="black"/>
                </a:solidFill>
                <a:latin typeface="Arial"/>
                <a:cs typeface="Arial"/>
              </a:rPr>
              <a:t>Details / Links of the reference and research work</a:t>
            </a:r>
            <a:endParaRPr lang="en-US" sz="2800" b="0" i="0" u="none" strike="noStrike" cap="none" spc="0">
              <a:ln>
                <a:noFill/>
              </a:ln>
              <a:solidFill>
                <a:prstClr val="black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6366088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6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1785227245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sp>
        <p:nvSpPr>
          <p:cNvPr id="1551121225" name="Oval 8" descr="Your startup LOGO"/>
          <p:cNvSpPr/>
          <p:nvPr/>
        </p:nvSpPr>
        <p:spPr bwMode="auto"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Your Team Name</a:t>
            </a:r>
            <a:endParaRPr lang="en-IN"/>
          </a:p>
        </p:txBody>
      </p:sp>
      <p:pic>
        <p:nvPicPr>
          <p:cNvPr id="181220449" name="Picture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759548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19368388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7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1049589135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sp>
        <p:nvSpPr>
          <p:cNvPr id="1970132304" name="Round Diagonal Corner Rectangle 2"/>
          <p:cNvSpPr/>
          <p:nvPr/>
        </p:nvSpPr>
        <p:spPr bwMode="auto">
          <a:xfrm>
            <a:off x="0" y="1791032"/>
            <a:ext cx="12192000" cy="43192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1436496882" name="Google Shape;100;p3"/>
          <p:cNvSpPr txBox="1"/>
          <p:nvPr/>
        </p:nvSpPr>
        <p:spPr bwMode="auto"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  <a:defRPr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Calibri"/>
                <a:cs typeface="Arial"/>
              </a:rPr>
              <a:t>Kindly keep the maximum slides limit up to six </a:t>
            </a:r>
            <a:r>
              <a:rPr lang="en-US" b="1" i="0" u="none" strike="noStrike" cap="none">
                <a:solidFill>
                  <a:srgbClr val="C00000"/>
                </a:solidFill>
                <a:latin typeface="Arial"/>
                <a:ea typeface="Calibri"/>
                <a:cs typeface="Arial"/>
              </a:rPr>
              <a:t>(6). </a:t>
            </a: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Calibri"/>
                <a:cs typeface="Arial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Calibri"/>
                <a:cs typeface="Arial"/>
              </a:rPr>
              <a:t>title slide) </a:t>
            </a:r>
            <a:endParaRPr b="1">
              <a:latin typeface="Arial"/>
              <a:cs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  <a:defRPr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Calibri"/>
                <a:cs typeface="Arial"/>
              </a:rPr>
              <a:t>Try to avoid paragraphs and post your idea in points /diagrams / Infographics /pictures </a:t>
            </a:r>
            <a:endParaRPr b="1">
              <a:latin typeface="Arial"/>
              <a:cs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  <a:defRPr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Calibri"/>
                <a:cs typeface="Arial"/>
              </a:rPr>
              <a:t>Keep your explanation precise and easy to understand</a:t>
            </a:r>
            <a:endParaRPr b="1">
              <a:latin typeface="Arial"/>
              <a:cs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  <a:defRPr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Calibri"/>
                <a:cs typeface="Arial"/>
              </a:rPr>
              <a:t>Idea should be unique and novel. </a:t>
            </a:r>
            <a:endParaRPr b="1">
              <a:latin typeface="Arial"/>
              <a:cs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  <a:defRPr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Calibri"/>
                <a:cs typeface="Arial"/>
              </a:rPr>
              <a:t>You can only use provided </a:t>
            </a:r>
            <a:r>
              <a:rPr lang="en-US" b="1">
                <a:solidFill>
                  <a:schemeClr val="dk1"/>
                </a:solidFill>
                <a:latin typeface="Arial"/>
                <a:ea typeface="Calibri"/>
                <a:cs typeface="Arial"/>
              </a:rPr>
              <a:t>template</a:t>
            </a: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Calibri"/>
                <a:cs typeface="Arial"/>
              </a:rPr>
              <a:t> for making the </a:t>
            </a:r>
            <a:r>
              <a:rPr lang="en-US" b="1">
                <a:solidFill>
                  <a:schemeClr val="dk1"/>
                </a:solidFill>
                <a:latin typeface="Arial"/>
                <a:ea typeface="Calibri"/>
                <a:cs typeface="Arial"/>
              </a:rPr>
              <a:t>PPT</a:t>
            </a: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Calibri"/>
                <a:cs typeface="Arial"/>
              </a:rPr>
              <a:t> without changing the idea details pointers (mentioned in previous slides).</a:t>
            </a:r>
            <a:endParaRPr b="1" i="0" u="none" strike="noStrike" cap="none">
              <a:solidFill>
                <a:schemeClr val="dk1"/>
              </a:solidFill>
              <a:latin typeface="Arial"/>
              <a:ea typeface="Calibri"/>
              <a:cs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  <a:defRPr/>
            </a:pPr>
            <a:r>
              <a:rPr lang="en-US" b="1" i="0" u="none" strike="noStrike" cap="none">
                <a:solidFill>
                  <a:schemeClr val="dk1"/>
                </a:solidFill>
                <a:latin typeface="Arial"/>
                <a:ea typeface="Calibri"/>
                <a:cs typeface="Arial"/>
              </a:rPr>
              <a:t>You need to save the file in PDF and upload the same on portal. No PPT, Word Doc or any other format will be supported.</a:t>
            </a:r>
            <a:endParaRPr b="1">
              <a:latin typeface="Arial"/>
              <a:cs typeface="Arial"/>
            </a:endParaRPr>
          </a:p>
          <a:p>
            <a:pPr marL="514350" marR="0" lvl="0" indent="-349884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  <a:defRPr/>
            </a:pPr>
            <a:endParaRPr b="1" i="0" u="none" strike="noStrike" cap="none">
              <a:solidFill>
                <a:schemeClr val="dk1"/>
              </a:solidFill>
              <a:latin typeface="Arial"/>
              <a:ea typeface="Calibri"/>
              <a:cs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  <a:defRPr/>
            </a:pPr>
            <a:r>
              <a:rPr lang="en-US" b="1" i="0" u="none" strike="noStrike" cap="none">
                <a:solidFill>
                  <a:srgbClr val="C00000"/>
                </a:solidFill>
                <a:latin typeface="Arial"/>
                <a:ea typeface="Calibri"/>
                <a:cs typeface="Arial"/>
              </a:rPr>
              <a:t>Note - You can delete this slide (Important Pointers) when you upload the details of your idea on SIH portal.</a:t>
            </a:r>
            <a:endParaRPr b="1">
              <a:solidFill>
                <a:srgbClr val="C00000"/>
              </a:solidFill>
              <a:latin typeface="Arial"/>
              <a:cs typeface="Arial"/>
            </a:endParaRPr>
          </a:p>
          <a:p>
            <a:pPr marL="914400" marR="0" lvl="1" indent="-316229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  <a:defRPr/>
            </a:pPr>
            <a:endParaRPr sz="2000" b="1" i="0" u="none" strike="noStrike" cap="none">
              <a:solidFill>
                <a:schemeClr val="dk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25988297" name="TextBox 3"/>
          <p:cNvSpPr txBox="1"/>
          <p:nvPr/>
        </p:nvSpPr>
        <p:spPr bwMode="auto"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3600" b="1">
                <a:latin typeface="Times New Roman"/>
                <a:cs typeface="Times New Roman"/>
              </a:rPr>
              <a:t>IMPORTANT INSTRUCTIONS</a:t>
            </a:r>
            <a:endParaRPr lang="en-IN" sz="3600" b="1">
              <a:latin typeface="Times New Roman"/>
              <a:cs typeface="Times New Roman"/>
            </a:endParaRPr>
          </a:p>
        </p:txBody>
      </p:sp>
      <p:sp>
        <p:nvSpPr>
          <p:cNvPr id="460726958" name="TextBox 4"/>
          <p:cNvSpPr txBox="1"/>
          <p:nvPr/>
        </p:nvSpPr>
        <p:spPr bwMode="auto">
          <a:xfrm>
            <a:off x="602343" y="1181900"/>
            <a:ext cx="955765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defRPr/>
            </a:pPr>
            <a:r>
              <a:rPr lang="en-US" b="1">
                <a:solidFill>
                  <a:schemeClr val="dk1"/>
                </a:solidFill>
                <a:latin typeface="Arial"/>
                <a:ea typeface="Calibri"/>
                <a:cs typeface="Arial"/>
              </a:rPr>
              <a:t>Please ensure below pointers are met while submitting the Idea PPT:</a:t>
            </a:r>
            <a:endParaRPr lang="en-IN" b="1">
              <a:solidFill>
                <a:schemeClr val="dk1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883415998" name="Picture 1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>Crowdfunder, Inc.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/>
  <cp:revision>153</cp:revision>
  <dcterms:created xsi:type="dcterms:W3CDTF">2013-12-12T18:46:50Z</dcterms:created>
  <dcterms:modified xsi:type="dcterms:W3CDTF">2026-09-14T13:28:28Z</dcterms:modified>
  <cp:category/>
</cp:coreProperties>
</file>