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78741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085765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C4D5ADD5-2BBC-4A94-8F86-D9013941F742}" type="datetimeFigureOut">
              <a:rPr lang="en-US"/>
              <a:t>6/2/2026</a:t>
            </a:fld>
            <a:endParaRPr lang="en-US"/>
          </a:p>
        </p:txBody>
      </p:sp>
      <p:sp>
        <p:nvSpPr>
          <p:cNvPr id="197646086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25600824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2248847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379377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5pPr>
    <a:lvl6pPr marL="22860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293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6844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91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E72A2B-11F8-1469-15D1-14D385E70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30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749102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337589729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437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8858882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379195369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7716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1624411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015499319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330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032816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2861372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7180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8578085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577299056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248008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1949921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9767341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60792E3-D524-454C-8AFD-A91972900BCB}" type="datetime1">
              <a:rPr lang="en-US"/>
              <a:t>6/2/2026</a:t>
            </a:fld>
            <a:endParaRPr lang="en-US"/>
          </a:p>
        </p:txBody>
      </p:sp>
      <p:sp>
        <p:nvSpPr>
          <p:cNvPr id="18870551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7058802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770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999210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037888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8B7524-32A2-4C20-A58C-BC3BAA1042FC}" type="datetime1">
              <a:rPr lang="en-US"/>
              <a:t>6/2/2026</a:t>
            </a:fld>
            <a:endParaRPr lang="en-US"/>
          </a:p>
        </p:txBody>
      </p:sp>
      <p:sp>
        <p:nvSpPr>
          <p:cNvPr id="19984398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5462235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415659" name="Title 1"/>
          <p:cNvSpPr>
            <a:spLocks noGrp="1"/>
          </p:cNvSpPr>
          <p:nvPr>
            <p:ph type="title"/>
          </p:nvPr>
        </p:nvSpPr>
        <p:spPr bwMode="auto"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182346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0272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E994447-D6B2-43BB-A877-57F1A267B999}" type="datetime1">
              <a:rPr lang="en-US"/>
              <a:t>6/2/2026</a:t>
            </a:fld>
            <a:endParaRPr lang="en-US"/>
          </a:p>
        </p:txBody>
      </p:sp>
      <p:sp>
        <p:nvSpPr>
          <p:cNvPr id="1531750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5433589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7968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0565872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7283582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094498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8920E16-BD35-483C-AA6B-346FC7E46DEA}" type="datetime1">
              <a:rPr lang="en-US"/>
              <a:t>6/2/2026</a:t>
            </a:fld>
            <a:endParaRPr lang="en-US"/>
          </a:p>
        </p:txBody>
      </p:sp>
      <p:sp>
        <p:nvSpPr>
          <p:cNvPr id="2061836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535147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1372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844618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007538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2156138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271116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877621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EAC6F8-5103-4FC0-A69E-5C6AE6469DA8}" type="datetime1">
              <a:rPr lang="en-US"/>
              <a:t>6/2/2026</a:t>
            </a:fld>
            <a:endParaRPr lang="en-US"/>
          </a:p>
        </p:txBody>
      </p:sp>
      <p:sp>
        <p:nvSpPr>
          <p:cNvPr id="15216110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9755274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3459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18917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60C6921-0627-4C8F-83D5-0CF936D2FFDD}" type="datetime1">
              <a:rPr lang="en-US"/>
              <a:t>6/2/2026</a:t>
            </a:fld>
            <a:endParaRPr lang="en-US"/>
          </a:p>
        </p:txBody>
      </p:sp>
      <p:sp>
        <p:nvSpPr>
          <p:cNvPr id="16843684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740653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0226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F08AD7-8103-40F8-983C-E2BA6BB9CBE0}" type="datetime1">
              <a:rPr lang="en-US"/>
              <a:t>6/2/2026</a:t>
            </a:fld>
            <a:endParaRPr lang="en-US"/>
          </a:p>
        </p:txBody>
      </p:sp>
      <p:sp>
        <p:nvSpPr>
          <p:cNvPr id="14952669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9272105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270992" name="Title 1"/>
          <p:cNvSpPr>
            <a:spLocks noGrp="1"/>
          </p:cNvSpPr>
          <p:nvPr>
            <p:ph type="title"/>
          </p:nvPr>
        </p:nvSpPr>
        <p:spPr bwMode="auto"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04952945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8240688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33083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F8C06B4-9380-4A4D-AF49-A3596E17DAF5}" type="datetime1">
              <a:rPr lang="en-US"/>
              <a:t>6/2/2026</a:t>
            </a:fld>
            <a:endParaRPr lang="en-US"/>
          </a:p>
        </p:txBody>
      </p:sp>
      <p:sp>
        <p:nvSpPr>
          <p:cNvPr id="17614817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1595454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999466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7748359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en-US"/>
          </a:p>
        </p:txBody>
      </p:sp>
      <p:sp>
        <p:nvSpPr>
          <p:cNvPr id="5350372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40034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7FDEF1-C582-4E22-9E77-D68326471F28}" type="datetime1">
              <a:rPr lang="en-US"/>
              <a:t>6/2/2026</a:t>
            </a:fld>
            <a:endParaRPr lang="en-US"/>
          </a:p>
        </p:txBody>
      </p:sp>
      <p:sp>
        <p:nvSpPr>
          <p:cNvPr id="15040674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5265859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8560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0153540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98766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3C3A68-6922-42D3-8905-ECC2D82A3469}" type="datetime1">
              <a:rPr lang="en-US"/>
              <a:t>6/2/2026</a:t>
            </a:fld>
            <a:endParaRPr lang="en-US"/>
          </a:p>
        </p:txBody>
      </p:sp>
      <p:sp>
        <p:nvSpPr>
          <p:cNvPr id="15977808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222337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48172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1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5016978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176791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B69E9F4-7604-4950-A8B2-8ACDEDB1506E}" type="datetime1">
              <a:rPr lang="en-US"/>
              <a:t>6/2/2026</a:t>
            </a:fld>
            <a:endParaRPr lang="en-US"/>
          </a:p>
        </p:txBody>
      </p:sp>
      <p:sp>
        <p:nvSpPr>
          <p:cNvPr id="11405112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20144968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897714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686379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9904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780A9602-A9A9-453F-AEF1-37B5837E02CD}" type="datetime1">
              <a:rPr lang="en-US"/>
              <a:t>6/2/2026</a:t>
            </a:fld>
            <a:endParaRPr lang="en-US"/>
          </a:p>
        </p:txBody>
      </p:sp>
      <p:sp>
        <p:nvSpPr>
          <p:cNvPr id="98143256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92407692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TradeGothic"/>
          <a:ea typeface="ＭＳ Ｐゴシック"/>
          <a:cs typeface="+mn-cs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TradeGothic"/>
          <a:ea typeface="ＭＳ Ｐゴシック"/>
          <a:cs typeface="+mn-cs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media1.sv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media2.sv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Relationship Id="rId6" Type="http://schemas.openxmlformats.org/officeDocument/2006/relationships/image" Target="../media/media3.svg"/><Relationship Id="rId7" Type="http://schemas.openxmlformats.org/officeDocument/2006/relationships/image" Target="../media/image16.png"/><Relationship Id="rId8" Type="http://schemas.openxmlformats.org/officeDocument/2006/relationships/image" Target="../media/media4.svg"/><Relationship Id="rId9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708281464" name="Rectangle 2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24102395" name="Freeform: Shap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 fill="norm" stroke="1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pic>
        <p:nvPicPr>
          <p:cNvPr id="351751884" name="Picture 4"/>
          <p:cNvPicPr>
            <a:picLocks noChangeAspect="1"/>
          </p:cNvPicPr>
          <p:nvPr/>
        </p:nvPicPr>
        <p:blipFill rotWithShape="1">
          <a:blip r:embed="rId3"/>
          <a:srcRect l="0" t="0" r="59916" b="0"/>
          <a:stretch/>
        </p:blipFill>
        <p:spPr bwMode="auto"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982050" name="Subtitle 3"/>
          <p:cNvSpPr>
            <a:spLocks noGrp="1"/>
          </p:cNvSpPr>
          <p:nvPr>
            <p:ph type="subTitle" idx="1"/>
          </p:nvPr>
        </p:nvSpPr>
        <p:spPr bwMode="auto">
          <a:xfrm>
            <a:off x="1245686" y="648614"/>
            <a:ext cx="8534400" cy="1752599"/>
          </a:xfrm>
        </p:spPr>
        <p:txBody>
          <a:bodyPr/>
          <a:lstStyle/>
          <a:p>
            <a:pPr>
              <a:defRPr/>
            </a:pPr>
            <a:endParaRPr lang="en-US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TITLE PAGE</a:t>
            </a:r>
            <a:endParaRPr lang="en-IN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05620885" name="Title 7"/>
          <p:cNvSpPr>
            <a:spLocks noGrp="1"/>
          </p:cNvSpPr>
          <p:nvPr>
            <p:ph type="ctrTitle"/>
          </p:nvPr>
        </p:nvSpPr>
        <p:spPr bwMode="auto">
          <a:xfrm>
            <a:off x="331286" y="-526757"/>
            <a:ext cx="10363200" cy="2076450"/>
          </a:xfrm>
        </p:spPr>
        <p:txBody>
          <a:bodyPr/>
          <a:lstStyle/>
          <a:p>
            <a:pPr>
              <a:defRPr/>
            </a:pPr>
            <a:r>
              <a:rPr lang="en-US" sz="4000" b="1">
                <a:solidFill>
                  <a:schemeClr val="tx2"/>
                </a:solidFill>
                <a:latin typeface="Garamond"/>
              </a:rPr>
              <a:t>SMART INDIA HACKATHON </a:t>
            </a:r>
            <a:r>
              <a:rPr lang="en-US" sz="4000" b="1">
                <a:solidFill>
                  <a:schemeClr val="tx2"/>
                </a:solidFill>
                <a:latin typeface="Garamond"/>
              </a:rPr>
              <a:t>2026</a:t>
            </a:r>
            <a:endParaRPr lang="en-IN" sz="4000" b="1">
              <a:solidFill>
                <a:schemeClr val="tx2"/>
              </a:solidFill>
              <a:latin typeface="Garamond"/>
            </a:endParaRPr>
          </a:p>
        </p:txBody>
      </p:sp>
      <p:sp>
        <p:nvSpPr>
          <p:cNvPr id="1159171214" name="TextBox 9"/>
          <p:cNvSpPr txBox="1"/>
          <p:nvPr/>
        </p:nvSpPr>
        <p:spPr bwMode="auto">
          <a:xfrm flipH="0" flipV="0">
            <a:off x="331284" y="1549692"/>
            <a:ext cx="7466651" cy="4962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Problem Statement ID –</a:t>
            </a:r>
            <a:r>
              <a:rPr/>
              <a:t>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26190</a:t>
            </a:r>
            <a:endParaRPr/>
          </a:p>
          <a:p>
            <a:pPr marL="285750" indent="-285750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Problem Statement Title-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Secure Digital </a:t>
            </a:r>
            <a:endParaRPr lang="en-US" sz="20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just">
              <a:lnSpc>
                <a:spcPct val="114999"/>
              </a:lnSpc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Document Management System for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Legal</a:t>
            </a:r>
            <a:endParaRPr lang="en-US" sz="20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just">
              <a:lnSpc>
                <a:spcPct val="114999"/>
              </a:lnSpc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and Investigation Documents</a:t>
            </a:r>
            <a:endParaRPr lang="en-US" sz="20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Theme-</a:t>
            </a:r>
            <a:r>
              <a:rPr lang="en-US" sz="2000" b="1">
                <a:latin typeface="Arial"/>
                <a:cs typeface="Arial"/>
              </a:rPr>
              <a:t>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Blockchain &amp; Cybersecurity</a:t>
            </a:r>
            <a:endParaRPr sz="200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PS Category- </a:t>
            </a:r>
            <a:r>
              <a:rPr lang="en-US" sz="2000" b="1">
                <a:latin typeface="Arial"/>
                <a:cs typeface="Arial"/>
              </a:rPr>
              <a:t>Software</a:t>
            </a:r>
            <a:endParaRPr sz="200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Team ID-</a:t>
            </a:r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Team Name - </a:t>
            </a:r>
            <a:r>
              <a:rPr lang="en-US" sz="2000" b="1">
                <a:latin typeface="Arial"/>
                <a:cs typeface="Arial"/>
              </a:rPr>
              <a:t>THE DEPLOYABLES</a:t>
            </a:r>
            <a:endParaRPr sz="2000" b="1">
              <a:latin typeface="Arial"/>
              <a:cs typeface="Arial"/>
            </a:endParaRPr>
          </a:p>
        </p:txBody>
      </p:sp>
      <p:pic>
        <p:nvPicPr>
          <p:cNvPr id="509746938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523317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36289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SDMS</a:t>
            </a:r>
            <a:br>
              <a:rPr lang="en-US" sz="1600" b="1">
                <a:latin typeface="Times New Roman"/>
                <a:ea typeface="ＭＳ Ｐゴシック"/>
                <a:cs typeface="Times New Roman"/>
              </a:rPr>
            </a:br>
            <a:r>
              <a:rPr lang="en-US" sz="1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secure, intelligent, and case-centric platform for managing</a:t>
            </a:r>
            <a:br>
              <a:rPr lang="en-US" sz="1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1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sensitive legal and investigation documents</a:t>
            </a:r>
            <a:r>
              <a:rPr lang="en-US" sz="1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600"/>
          </a:p>
        </p:txBody>
      </p:sp>
      <p:sp>
        <p:nvSpPr>
          <p:cNvPr id="13316931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365560318" name="Footer Placehold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5617087" name="Oval 9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1155359529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5" y="0"/>
            <a:ext cx="2249850" cy="1062337"/>
          </a:xfrm>
          <a:prstGeom prst="rect">
            <a:avLst/>
          </a:prstGeom>
        </p:spPr>
      </p:pic>
      <p:sp>
        <p:nvSpPr>
          <p:cNvPr id="640774580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198749" y="1600202"/>
            <a:ext cx="1138365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Font typeface="Arial"/>
              <a:buNone/>
              <a:defRPr/>
            </a:pPr>
            <a:r>
              <a:rPr/>
              <a:t>   </a:t>
            </a:r>
            <a:endParaRPr/>
          </a:p>
        </p:txBody>
      </p:sp>
      <p:sp>
        <p:nvSpPr>
          <p:cNvPr id="1837445446" name="Text 0"/>
          <p:cNvSpPr/>
          <p:nvPr/>
        </p:nvSpPr>
        <p:spPr bwMode="auto">
          <a:xfrm>
            <a:off x="464815" y="1600202"/>
            <a:ext cx="6029332" cy="5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50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Problem &amp; Solution Overview</a:t>
            </a:r>
            <a:endParaRPr lang="en-US" sz="3650"/>
          </a:p>
        </p:txBody>
      </p:sp>
      <p:pic>
        <p:nvPicPr>
          <p:cNvPr id="685832825" name="Image 0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4199" y="2546349"/>
            <a:ext cx="1516817" cy="937418"/>
          </a:xfrm>
          <a:prstGeom prst="rect">
            <a:avLst/>
          </a:prstGeom>
        </p:spPr>
      </p:pic>
      <p:sp>
        <p:nvSpPr>
          <p:cNvPr id="1651964613" name="Text 1"/>
          <p:cNvSpPr/>
          <p:nvPr/>
        </p:nvSpPr>
        <p:spPr bwMode="auto">
          <a:xfrm>
            <a:off x="2513246" y="2546349"/>
            <a:ext cx="1042470" cy="292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Problems</a:t>
            </a:r>
            <a:endParaRPr lang="en-US" sz="1800"/>
          </a:p>
        </p:txBody>
      </p:sp>
      <p:sp>
        <p:nvSpPr>
          <p:cNvPr id="1904396391" name="Text 2"/>
          <p:cNvSpPr/>
          <p:nvPr/>
        </p:nvSpPr>
        <p:spPr bwMode="auto">
          <a:xfrm>
            <a:off x="2513246" y="2963565"/>
            <a:ext cx="3451435" cy="2014537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267357" indent="-267357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Scattered storage &amp; uncontrolled sharing </a:t>
            </a:r>
            <a:endParaRPr lang="en-US" sz="1650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67357" indent="-267357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Unauthorized access and lack of accountability </a:t>
            </a:r>
            <a:endParaRPr lang="en-US" sz="1650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67357" indent="-267357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Tampering risk, no immutable history </a:t>
            </a:r>
            <a:endParaRPr lang="en-US" sz="1650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39821" indent="-239821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  Scanned docs not searchable; high manual effort</a:t>
            </a:r>
            <a:endParaRPr lang="en-US" sz="1650"/>
          </a:p>
        </p:txBody>
      </p:sp>
      <p:pic>
        <p:nvPicPr>
          <p:cNvPr id="11955424" name="Image 1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226911" y="2546349"/>
            <a:ext cx="1516817" cy="937418"/>
          </a:xfrm>
          <a:prstGeom prst="rect">
            <a:avLst/>
          </a:prstGeom>
        </p:spPr>
      </p:pic>
      <p:sp>
        <p:nvSpPr>
          <p:cNvPr id="498647247" name="Text 3"/>
          <p:cNvSpPr/>
          <p:nvPr/>
        </p:nvSpPr>
        <p:spPr bwMode="auto">
          <a:xfrm>
            <a:off x="8005959" y="2546349"/>
            <a:ext cx="2400885" cy="292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Our Solution — SDMS</a:t>
            </a:r>
            <a:endParaRPr sz="1800" b="1"/>
          </a:p>
        </p:txBody>
      </p:sp>
      <p:sp>
        <p:nvSpPr>
          <p:cNvPr id="841376291" name="Text 4"/>
          <p:cNvSpPr/>
          <p:nvPr/>
        </p:nvSpPr>
        <p:spPr bwMode="auto">
          <a:xfrm>
            <a:off x="8005959" y="2963565"/>
            <a:ext cx="3451536" cy="2350293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267357" indent="-267357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Case-centric repository with RBAC and cryptographic integrity checks</a:t>
            </a:r>
            <a:endParaRPr lang="en-US" sz="1650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67357" indent="-267357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On-prem / self-hosted modular architecture </a:t>
            </a:r>
            <a:endParaRPr lang="en-US" sz="1650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39821" indent="-239821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OCR + searchable text, AI-assisted extraction (human-in-the-loop) </a:t>
            </a:r>
            <a:endParaRPr lang="en-US" sz="1650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39821" indent="-239821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 Versioning, audit trails, and sharing controls</a:t>
            </a:r>
            <a:endParaRPr lang="en-US" sz="1650"/>
          </a:p>
        </p:txBody>
      </p:sp>
      <p:pic>
        <p:nvPicPr>
          <p:cNvPr id="175136440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391949" y="252245"/>
            <a:ext cx="1100657" cy="733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53452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594883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TECHNICAL APPROACH</a:t>
            </a:r>
            <a:endParaRPr/>
          </a:p>
        </p:txBody>
      </p:sp>
      <p:sp>
        <p:nvSpPr>
          <p:cNvPr id="633183443" name="TextBox 8"/>
          <p:cNvSpPr txBox="1">
            <a:spLocks noChangeArrowheads="1"/>
          </p:cNvSpPr>
          <p:nvPr/>
        </p:nvSpPr>
        <p:spPr bwMode="auto">
          <a:xfrm flipH="0" flipV="0">
            <a:off x="8639870" y="1095374"/>
            <a:ext cx="3391505" cy="366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2458734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61036697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15205402" name="Oval 10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1563858070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34330095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 flipH="0" flipV="0">
            <a:off x="6306879" y="1624110"/>
            <a:ext cx="2511360" cy="2202311"/>
          </a:xfrm>
          <a:prstGeom prst="rect">
            <a:avLst/>
          </a:prstGeom>
        </p:spPr>
      </p:pic>
      <p:sp>
        <p:nvSpPr>
          <p:cNvPr id="1185388044" name="Text 1"/>
          <p:cNvSpPr/>
          <p:nvPr/>
        </p:nvSpPr>
        <p:spPr bwMode="auto">
          <a:xfrm>
            <a:off x="7507593" y="1749920"/>
            <a:ext cx="110196" cy="2520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550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1</a:t>
            </a:r>
            <a:endParaRPr lang="en-US" sz="1550"/>
          </a:p>
        </p:txBody>
      </p:sp>
      <p:sp>
        <p:nvSpPr>
          <p:cNvPr id="1045080372" name="Text 2"/>
          <p:cNvSpPr/>
          <p:nvPr/>
        </p:nvSpPr>
        <p:spPr bwMode="auto">
          <a:xfrm>
            <a:off x="6493704" y="2295425"/>
            <a:ext cx="798542" cy="233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5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Frontend</a:t>
            </a:r>
            <a:endParaRPr lang="en-US" sz="1450"/>
          </a:p>
        </p:txBody>
      </p:sp>
      <p:sp>
        <p:nvSpPr>
          <p:cNvPr id="1770512504" name="Text 3"/>
          <p:cNvSpPr/>
          <p:nvPr/>
        </p:nvSpPr>
        <p:spPr bwMode="auto">
          <a:xfrm>
            <a:off x="6493704" y="2662831"/>
            <a:ext cx="2137713" cy="72509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0000" lnSpcReduction="4000"/>
          </a:bodyPr>
          <a:lstStyle/>
          <a:p>
            <a:pPr marL="206777" indent="-206777" algn="l">
              <a:lnSpc>
                <a:spcPct val="120000"/>
              </a:lnSpc>
              <a:buFont typeface="Arial"/>
              <a:buChar char="•"/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Next.js</a:t>
            </a: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 </a:t>
            </a:r>
            <a:endParaRPr lang="en-US" sz="1300" b="1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algn="l">
              <a:lnSpc>
                <a:spcPct val="12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•  </a:t>
            </a: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TypeScript </a:t>
            </a:r>
            <a:endParaRPr lang="en-US" sz="1300" b="1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•  TailwindCSS — role-aware UI for   investigators and auditors</a:t>
            </a:r>
            <a:endParaRPr sz="1300" b="1"/>
          </a:p>
        </p:txBody>
      </p:sp>
      <p:pic>
        <p:nvPicPr>
          <p:cNvPr id="179201958" name="Image 2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8952480" y="1624110"/>
            <a:ext cx="2511360" cy="2202311"/>
          </a:xfrm>
          <a:prstGeom prst="rect">
            <a:avLst/>
          </a:prstGeom>
        </p:spPr>
      </p:pic>
      <p:sp>
        <p:nvSpPr>
          <p:cNvPr id="1088889215" name="Text 4"/>
          <p:cNvSpPr/>
          <p:nvPr/>
        </p:nvSpPr>
        <p:spPr bwMode="auto">
          <a:xfrm>
            <a:off x="10153195" y="1749920"/>
            <a:ext cx="110196" cy="2520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550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2</a:t>
            </a:r>
            <a:endParaRPr lang="en-US" sz="1550"/>
          </a:p>
        </p:txBody>
      </p:sp>
      <p:sp>
        <p:nvSpPr>
          <p:cNvPr id="2048393368" name="Text 5"/>
          <p:cNvSpPr/>
          <p:nvPr/>
        </p:nvSpPr>
        <p:spPr bwMode="auto">
          <a:xfrm>
            <a:off x="9139306" y="2295425"/>
            <a:ext cx="1689247" cy="233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5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Backend &amp; Storage</a:t>
            </a:r>
            <a:endParaRPr sz="1450" b="1"/>
          </a:p>
        </p:txBody>
      </p:sp>
      <p:sp>
        <p:nvSpPr>
          <p:cNvPr id="1277461679" name="Text 6"/>
          <p:cNvSpPr/>
          <p:nvPr/>
        </p:nvSpPr>
        <p:spPr bwMode="auto">
          <a:xfrm>
            <a:off x="9139306" y="2662831"/>
            <a:ext cx="2137713" cy="72509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0000" lnSpcReduction="4000"/>
          </a:bodyPr>
          <a:lstStyle/>
          <a:p>
            <a:pPr marL="228806" indent="-228806" algn="l">
              <a:lnSpc>
                <a:spcPct val="120000"/>
              </a:lnSpc>
              <a:buFont typeface="Arial"/>
              <a:buChar char="•"/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Node.js</a:t>
            </a:r>
            <a:endParaRPr lang="en-US" sz="1300" b="1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28806" indent="-228806" algn="l">
              <a:lnSpc>
                <a:spcPct val="120000"/>
              </a:lnSpc>
              <a:buFont typeface="Arial"/>
              <a:buChar char="•"/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PostgreSQL (metadata</a:t>
            </a: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)</a:t>
            </a:r>
            <a:endParaRPr lang="en-US" sz="1300" b="1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28806" indent="-228806" algn="l">
              <a:lnSpc>
                <a:spcPct val="120000"/>
              </a:lnSpc>
              <a:buFont typeface="Arial"/>
              <a:buChar char="•"/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MinIO (objects) </a:t>
            </a:r>
            <a:endParaRPr lang="en-US" sz="1300" b="1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28806" indent="-228806" algn="l">
              <a:lnSpc>
                <a:spcPct val="120000"/>
              </a:lnSpc>
              <a:buFont typeface="Arial"/>
              <a:buChar char="•"/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Prisma ORM</a:t>
            </a:r>
            <a:endParaRPr lang="en-US" sz="1300" b="1">
              <a:solidFill>
                <a:srgbClr val="000000"/>
              </a:solidFill>
              <a:latin typeface="Barlow"/>
              <a:ea typeface="Barlow"/>
              <a:cs typeface="Barlow"/>
            </a:endParaRPr>
          </a:p>
        </p:txBody>
      </p:sp>
      <p:pic>
        <p:nvPicPr>
          <p:cNvPr id="325293174" name="Image 3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6306879" y="4014092"/>
            <a:ext cx="2511361" cy="2192337"/>
          </a:xfrm>
          <a:prstGeom prst="rect">
            <a:avLst/>
          </a:prstGeom>
        </p:spPr>
      </p:pic>
      <p:sp>
        <p:nvSpPr>
          <p:cNvPr id="1197064671" name="Text 7"/>
          <p:cNvSpPr/>
          <p:nvPr/>
        </p:nvSpPr>
        <p:spPr bwMode="auto">
          <a:xfrm flipH="0" flipV="0">
            <a:off x="7507593" y="4179674"/>
            <a:ext cx="100687" cy="252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550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3</a:t>
            </a:r>
            <a:endParaRPr lang="en-US" sz="1550"/>
          </a:p>
        </p:txBody>
      </p:sp>
      <p:sp>
        <p:nvSpPr>
          <p:cNvPr id="232394722" name="Text 8"/>
          <p:cNvSpPr/>
          <p:nvPr/>
        </p:nvSpPr>
        <p:spPr bwMode="auto">
          <a:xfrm>
            <a:off x="6396234" y="4431751"/>
            <a:ext cx="993481" cy="233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5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Processing</a:t>
            </a:r>
            <a:endParaRPr sz="1450" b="1"/>
          </a:p>
        </p:txBody>
      </p:sp>
      <p:sp>
        <p:nvSpPr>
          <p:cNvPr id="2048326986" name="Text 9"/>
          <p:cNvSpPr/>
          <p:nvPr/>
        </p:nvSpPr>
        <p:spPr bwMode="auto">
          <a:xfrm>
            <a:off x="6493704" y="4747716"/>
            <a:ext cx="2137713" cy="96678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206777" indent="-206777" algn="l">
              <a:lnSpc>
                <a:spcPct val="120000"/>
              </a:lnSpc>
              <a:buFont typeface="Arial"/>
              <a:buChar char="•"/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Tesseract OCR pipeline</a:t>
            </a:r>
            <a:endParaRPr lang="en-US" sz="1300" b="1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06777" indent="-206777" algn="l">
              <a:lnSpc>
                <a:spcPct val="120000"/>
              </a:lnSpc>
              <a:buFont typeface="Arial"/>
              <a:buChar char="•"/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  AI services for summarization, classification &amp; entity extraction (human-in-loop)</a:t>
            </a:r>
            <a:endParaRPr sz="1300" b="1"/>
          </a:p>
        </p:txBody>
      </p:sp>
      <p:pic>
        <p:nvPicPr>
          <p:cNvPr id="224392018" name="Image 4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8925063" y="4014092"/>
            <a:ext cx="2511361" cy="2192337"/>
          </a:xfrm>
          <a:prstGeom prst="rect">
            <a:avLst/>
          </a:prstGeom>
        </p:spPr>
      </p:pic>
      <p:sp>
        <p:nvSpPr>
          <p:cNvPr id="507585549" name="Text 10"/>
          <p:cNvSpPr/>
          <p:nvPr/>
        </p:nvSpPr>
        <p:spPr bwMode="auto">
          <a:xfrm flipH="0" flipV="0">
            <a:off x="10098096" y="4128231"/>
            <a:ext cx="55097" cy="252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550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4</a:t>
            </a:r>
            <a:endParaRPr lang="en-US" sz="1550"/>
          </a:p>
        </p:txBody>
      </p:sp>
      <p:sp>
        <p:nvSpPr>
          <p:cNvPr id="1448040156" name="Text 11"/>
          <p:cNvSpPr/>
          <p:nvPr/>
        </p:nvSpPr>
        <p:spPr bwMode="auto">
          <a:xfrm>
            <a:off x="9139306" y="4380309"/>
            <a:ext cx="727419" cy="233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5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Security</a:t>
            </a:r>
            <a:endParaRPr sz="1450" b="1"/>
          </a:p>
        </p:txBody>
      </p:sp>
      <p:sp>
        <p:nvSpPr>
          <p:cNvPr id="99550998" name="Text 12"/>
          <p:cNvSpPr/>
          <p:nvPr/>
        </p:nvSpPr>
        <p:spPr bwMode="auto">
          <a:xfrm>
            <a:off x="9139306" y="4747716"/>
            <a:ext cx="2137713" cy="72509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0000" lnSpcReduction="4000"/>
          </a:bodyPr>
          <a:lstStyle/>
          <a:p>
            <a:pPr marL="228806" indent="-228806" algn="l">
              <a:lnSpc>
                <a:spcPct val="120000"/>
              </a:lnSpc>
              <a:buFont typeface="Arial"/>
              <a:buChar char="•"/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RBAC</a:t>
            </a:r>
            <a:endParaRPr lang="en-US" sz="1300" b="1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195764" indent="-195764" algn="l">
              <a:lnSpc>
                <a:spcPct val="120000"/>
              </a:lnSpc>
              <a:buFont typeface="Arial"/>
              <a:buChar char="•"/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  SHA-256 hashing for integrity</a:t>
            </a:r>
            <a:endParaRPr lang="en-US" sz="1300" b="1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195764" indent="-195764" algn="l">
              <a:lnSpc>
                <a:spcPct val="120000"/>
              </a:lnSpc>
              <a:buFont typeface="Arial"/>
              <a:buChar char="•"/>
              <a:defRPr/>
            </a:pPr>
            <a:r>
              <a:rPr lang="en-US" sz="1300" b="1">
                <a:solidFill>
                  <a:srgbClr val="000000"/>
                </a:solidFill>
                <a:latin typeface="Barlow"/>
                <a:ea typeface="Barlow"/>
                <a:cs typeface="Barlow"/>
              </a:rPr>
              <a:t>Audit logs &amp; version history</a:t>
            </a:r>
            <a:endParaRPr sz="1300" b="1"/>
          </a:p>
        </p:txBody>
      </p:sp>
      <p:pic>
        <p:nvPicPr>
          <p:cNvPr id="195513590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279180" y="1153711"/>
            <a:ext cx="5910084" cy="4319094"/>
          </a:xfrm>
          <a:prstGeom prst="rect">
            <a:avLst/>
          </a:prstGeom>
        </p:spPr>
      </p:pic>
      <p:sp>
        <p:nvSpPr>
          <p:cNvPr id="1539653391" name=""/>
          <p:cNvSpPr/>
          <p:nvPr/>
        </p:nvSpPr>
        <p:spPr bwMode="auto">
          <a:xfrm>
            <a:off x="2233447" y="5535212"/>
            <a:ext cx="2580785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Architecture Diagram</a:t>
            </a:r>
            <a:endParaRPr b="0">
              <a:solidFill>
                <a:schemeClr val="tx1"/>
              </a:solidFill>
            </a:endParaRPr>
          </a:p>
        </p:txBody>
      </p:sp>
      <p:pic>
        <p:nvPicPr>
          <p:cNvPr id="852621418" name="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 flipH="0" flipV="0">
            <a:off x="391948" y="252245"/>
            <a:ext cx="1100657" cy="733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199129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12826850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8113122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4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357143348" name="Footer Placehold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159763841" name="Oval 11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1515319405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637930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 </a:t>
            </a:r>
            <a:endParaRPr/>
          </a:p>
        </p:txBody>
      </p:sp>
      <p:sp>
        <p:nvSpPr>
          <p:cNvPr id="1543912643" name="Shape 1"/>
          <p:cNvSpPr/>
          <p:nvPr/>
        </p:nvSpPr>
        <p:spPr bwMode="auto">
          <a:xfrm>
            <a:off x="734199" y="1652289"/>
            <a:ext cx="3434569" cy="629344"/>
          </a:xfrm>
          <a:prstGeom prst="roundRect">
            <a:avLst>
              <a:gd name="adj" fmla="val 49999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922022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solidFill>
                <a:srgbClr val="FFFF00"/>
              </a:solidFill>
            </a:endParaRPr>
          </a:p>
        </p:txBody>
      </p:sp>
      <p:sp>
        <p:nvSpPr>
          <p:cNvPr id="1609033632" name="Text 2"/>
          <p:cNvSpPr/>
          <p:nvPr/>
        </p:nvSpPr>
        <p:spPr bwMode="auto">
          <a:xfrm>
            <a:off x="1387930" y="2428709"/>
            <a:ext cx="1118708" cy="292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Feasibility</a:t>
            </a:r>
            <a:endParaRPr lang="en-US" sz="1800"/>
          </a:p>
        </p:txBody>
      </p:sp>
      <p:sp>
        <p:nvSpPr>
          <p:cNvPr id="1624133589" name="Text 3"/>
          <p:cNvSpPr/>
          <p:nvPr/>
        </p:nvSpPr>
        <p:spPr bwMode="auto">
          <a:xfrm>
            <a:off x="943943" y="2908597"/>
            <a:ext cx="3015082" cy="1007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Built on proven open-source tech. Modular services enable incremental deployment.</a:t>
            </a:r>
            <a:endParaRPr lang="en-US" sz="1650"/>
          </a:p>
        </p:txBody>
      </p:sp>
      <p:sp>
        <p:nvSpPr>
          <p:cNvPr id="1201206393" name="Shape 4"/>
          <p:cNvSpPr/>
          <p:nvPr/>
        </p:nvSpPr>
        <p:spPr bwMode="auto">
          <a:xfrm>
            <a:off x="4378512" y="1652289"/>
            <a:ext cx="3434569" cy="629344"/>
          </a:xfrm>
          <a:prstGeom prst="roundRect">
            <a:avLst>
              <a:gd name="adj" fmla="val 49999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922022"/>
            </a:solidFill>
            <a:prstDash val="solid"/>
          </a:ln>
        </p:spPr>
      </p:sp>
      <p:sp>
        <p:nvSpPr>
          <p:cNvPr id="585650254" name="Text 5"/>
          <p:cNvSpPr/>
          <p:nvPr/>
        </p:nvSpPr>
        <p:spPr bwMode="auto">
          <a:xfrm>
            <a:off x="4588255" y="2491382"/>
            <a:ext cx="1093597" cy="292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Key Risks</a:t>
            </a:r>
            <a:endParaRPr sz="1800" b="1"/>
          </a:p>
        </p:txBody>
      </p:sp>
      <p:sp>
        <p:nvSpPr>
          <p:cNvPr id="1305302728" name="Text 6"/>
          <p:cNvSpPr/>
          <p:nvPr/>
        </p:nvSpPr>
        <p:spPr bwMode="auto">
          <a:xfrm>
            <a:off x="4588255" y="2908597"/>
            <a:ext cx="3015082" cy="1007268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250835" indent="-250835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  Unauthorized access</a:t>
            </a:r>
            <a:endParaRPr lang="en-US" sz="1650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50835" indent="-250835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  </a:t>
            </a: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OCR errors for low-quality scans </a:t>
            </a:r>
            <a:endParaRPr lang="en-US" sz="1650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39821" indent="-239821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  Large-scale storage &amp; uptime</a:t>
            </a:r>
            <a:endParaRPr lang="en-US" sz="1650">
              <a:solidFill>
                <a:srgbClr val="000000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835393507" name="Shape 7"/>
          <p:cNvSpPr/>
          <p:nvPr/>
        </p:nvSpPr>
        <p:spPr bwMode="auto">
          <a:xfrm>
            <a:off x="8022825" y="1652289"/>
            <a:ext cx="3434668" cy="629344"/>
          </a:xfrm>
          <a:prstGeom prst="roundRect">
            <a:avLst>
              <a:gd name="adj" fmla="val 49999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922022"/>
            </a:solidFill>
            <a:prstDash val="solid"/>
          </a:ln>
        </p:spPr>
      </p:sp>
      <p:sp>
        <p:nvSpPr>
          <p:cNvPr id="747324587" name="Text 8"/>
          <p:cNvSpPr/>
          <p:nvPr/>
        </p:nvSpPr>
        <p:spPr bwMode="auto">
          <a:xfrm>
            <a:off x="8232568" y="2491382"/>
            <a:ext cx="1207108" cy="292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Mitigations</a:t>
            </a:r>
            <a:endParaRPr lang="en-US" sz="1800"/>
          </a:p>
        </p:txBody>
      </p:sp>
      <p:sp>
        <p:nvSpPr>
          <p:cNvPr id="2010277185" name="Text 9"/>
          <p:cNvSpPr/>
          <p:nvPr/>
        </p:nvSpPr>
        <p:spPr bwMode="auto">
          <a:xfrm>
            <a:off x="8232568" y="2908597"/>
            <a:ext cx="3015181" cy="2014537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5000" lnSpcReduction="1000"/>
          </a:bodyPr>
          <a:lstStyle/>
          <a:p>
            <a:pPr marL="267357" indent="-267357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Hardened RBAC, encryption at rest/in transit, audit trails</a:t>
            </a:r>
            <a:endParaRPr lang="en-US" sz="1650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61850" indent="-261850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 Preprocessing &amp; image enhancement to improve OCR</a:t>
            </a:r>
            <a:endParaRPr lang="en-US" sz="1650">
              <a:solidFill>
                <a:srgbClr val="000000"/>
              </a:solidFill>
              <a:latin typeface="Barlow"/>
              <a:ea typeface="Barlow"/>
              <a:cs typeface="Barlow"/>
            </a:endParaRPr>
          </a:p>
          <a:p>
            <a:pPr marL="261850" indent="-261850" algn="l">
              <a:lnSpc>
                <a:spcPct val="133000"/>
              </a:lnSpc>
              <a:buFont typeface="Arial"/>
              <a:buChar char="•"/>
              <a:defRPr/>
            </a:pPr>
            <a:r>
              <a:rPr lang="en-US" sz="16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  Object lifecycle policies, sharding, and monitoring</a:t>
            </a:r>
            <a:endParaRPr lang="en-US" sz="1650"/>
          </a:p>
        </p:txBody>
      </p:sp>
      <p:pic>
        <p:nvPicPr>
          <p:cNvPr id="167563956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947285" y="1560281"/>
            <a:ext cx="813360" cy="813360"/>
          </a:xfrm>
          <a:prstGeom prst="rect">
            <a:avLst/>
          </a:prstGeom>
        </p:spPr>
      </p:pic>
      <p:pic>
        <p:nvPicPr>
          <p:cNvPr id="108688196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479000" y="1626462"/>
            <a:ext cx="680998" cy="680998"/>
          </a:xfrm>
          <a:prstGeom prst="rect">
            <a:avLst/>
          </a:prstGeom>
        </p:spPr>
      </p:pic>
      <p:pic>
        <p:nvPicPr>
          <p:cNvPr id="134096727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743245" y="1609764"/>
            <a:ext cx="714393" cy="714393"/>
          </a:xfrm>
          <a:prstGeom prst="rect">
            <a:avLst/>
          </a:prstGeom>
        </p:spPr>
      </p:pic>
      <p:pic>
        <p:nvPicPr>
          <p:cNvPr id="685864538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391948" y="252245"/>
            <a:ext cx="1100657" cy="733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61318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17933835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IMPACT AND BENEFITS</a:t>
            </a:r>
            <a:endParaRPr/>
          </a:p>
        </p:txBody>
      </p:sp>
      <p:sp>
        <p:nvSpPr>
          <p:cNvPr id="9386084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5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979283791" name="Footer Placehold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92826971" name="Oval 11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468284393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759560247" name="Image 0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62794" y="2652712"/>
            <a:ext cx="4114795" cy="2331739"/>
          </a:xfrm>
          <a:prstGeom prst="rect">
            <a:avLst/>
          </a:prstGeom>
        </p:spPr>
      </p:pic>
      <p:pic>
        <p:nvPicPr>
          <p:cNvPr id="1119556481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5773195" y="1582240"/>
            <a:ext cx="471971" cy="471983"/>
          </a:xfrm>
          <a:prstGeom prst="rect">
            <a:avLst/>
          </a:prstGeom>
        </p:spPr>
      </p:pic>
      <p:sp>
        <p:nvSpPr>
          <p:cNvPr id="1780543994" name="Text 1"/>
          <p:cNvSpPr/>
          <p:nvPr/>
        </p:nvSpPr>
        <p:spPr bwMode="auto">
          <a:xfrm>
            <a:off x="5773195" y="2266651"/>
            <a:ext cx="1421922" cy="262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5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Primary Users</a:t>
            </a:r>
            <a:endParaRPr sz="1650" b="1"/>
          </a:p>
        </p:txBody>
      </p:sp>
      <p:sp>
        <p:nvSpPr>
          <p:cNvPr id="371278507" name="Text 2"/>
          <p:cNvSpPr/>
          <p:nvPr/>
        </p:nvSpPr>
        <p:spPr bwMode="auto">
          <a:xfrm>
            <a:off x="5773195" y="2698749"/>
            <a:ext cx="5690548" cy="57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  <a:defRPr/>
            </a:pPr>
            <a:r>
              <a:rPr lang="en-US" sz="14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Law enforcement, prosecutors, courts, investigators, records managers, auditors</a:t>
            </a:r>
            <a:endParaRPr lang="en-US" sz="1450"/>
          </a:p>
        </p:txBody>
      </p:sp>
      <p:pic>
        <p:nvPicPr>
          <p:cNvPr id="1311252867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5773195" y="3612453"/>
            <a:ext cx="471971" cy="471983"/>
          </a:xfrm>
          <a:prstGeom prst="rect">
            <a:avLst/>
          </a:prstGeom>
        </p:spPr>
      </p:pic>
      <p:sp>
        <p:nvSpPr>
          <p:cNvPr id="1095984028" name="Text 3"/>
          <p:cNvSpPr/>
          <p:nvPr/>
        </p:nvSpPr>
        <p:spPr bwMode="auto">
          <a:xfrm>
            <a:off x="5773195" y="4296865"/>
            <a:ext cx="1270082" cy="262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5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rPr>
              <a:t>Key Benefits</a:t>
            </a:r>
            <a:endParaRPr sz="1650" b="1"/>
          </a:p>
        </p:txBody>
      </p:sp>
      <p:sp>
        <p:nvSpPr>
          <p:cNvPr id="908084502" name="Text 4"/>
          <p:cNvSpPr/>
          <p:nvPr/>
        </p:nvSpPr>
        <p:spPr bwMode="auto">
          <a:xfrm>
            <a:off x="5773195" y="4728963"/>
            <a:ext cx="5690548" cy="13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39" indent="-294639" algn="l">
              <a:lnSpc>
                <a:spcPct val="127000"/>
              </a:lnSpc>
              <a:buSzPct val="100000"/>
              <a:buChar char="•"/>
              <a:defRPr/>
            </a:pPr>
            <a:r>
              <a:rPr lang="en-US" sz="14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Faster access to critical case records</a:t>
            </a:r>
            <a:endParaRPr lang="en-US" sz="1450"/>
          </a:p>
          <a:p>
            <a:pPr marL="294639" indent="-294639" algn="l">
              <a:lnSpc>
                <a:spcPct val="127000"/>
              </a:lnSpc>
              <a:buSzPct val="100000"/>
              <a:buChar char="•"/>
              <a:defRPr/>
            </a:pPr>
            <a:r>
              <a:rPr lang="en-US" sz="14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Improved confidentiality and integrity</a:t>
            </a:r>
            <a:endParaRPr lang="en-US" sz="1450"/>
          </a:p>
          <a:p>
            <a:pPr marL="294639" indent="-294639" algn="l">
              <a:lnSpc>
                <a:spcPct val="127000"/>
              </a:lnSpc>
              <a:buSzPct val="100000"/>
              <a:buChar char="•"/>
              <a:defRPr/>
            </a:pPr>
            <a:r>
              <a:rPr lang="en-US" sz="14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Clear audit trails for accountability</a:t>
            </a:r>
            <a:endParaRPr lang="en-US" sz="1450"/>
          </a:p>
          <a:p>
            <a:pPr marL="294639" indent="-294639" algn="l">
              <a:lnSpc>
                <a:spcPct val="127000"/>
              </a:lnSpc>
              <a:buSzPct val="100000"/>
              <a:buChar char="•"/>
              <a:defRPr/>
            </a:pPr>
            <a:r>
              <a:rPr lang="en-US" sz="1450">
                <a:solidFill>
                  <a:srgbClr val="000000"/>
                </a:solidFill>
                <a:latin typeface="Barlow"/>
                <a:ea typeface="Barlow"/>
                <a:cs typeface="Barlow"/>
              </a:rPr>
              <a:t>Reduced manual processing and better collaboration</a:t>
            </a:r>
            <a:endParaRPr lang="en-US" sz="1450"/>
          </a:p>
        </p:txBody>
      </p:sp>
      <p:pic>
        <p:nvPicPr>
          <p:cNvPr id="558773411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391948" y="252245"/>
            <a:ext cx="1100657" cy="733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197756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15263344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RESEARCH  AND REFERENCES</a:t>
            </a:r>
            <a:endParaRPr/>
          </a:p>
        </p:txBody>
      </p:sp>
      <p:sp>
        <p:nvSpPr>
          <p:cNvPr id="2225540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6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547806810" name="Footer Placehold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80473918" name="Oval 8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65276167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7149479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 sz="24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 Bharatiya Sakshya Adhiniyam, 2023 — Sec. 61–63, electronic evidence (indiacode.nic.in)</a:t>
            </a:r>
            <a:endParaRPr sz="24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 NIST FIPS 180-4 — Secure Hash Standard, SHA-256 (csrc.nist.gov)</a:t>
            </a:r>
            <a:endParaRPr sz="24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 NIST/ANSI INCITS 359 — Role Based Access Control (csrc.nist.gov)</a:t>
            </a:r>
            <a:endParaRPr sz="24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 OWASP Top 10 — Web application security risks (owasp.org)</a:t>
            </a:r>
            <a:endParaRPr sz="24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 Tech stack docs: Next.js, NestJS, PostgreSQL, Prisma, MinIO, Tesseract OCR</a:t>
            </a:r>
            <a:endParaRPr sz="24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 CCTNS / ICJS, NCRB — background context only, not integrated (ncrb.gov.in)</a:t>
            </a:r>
            <a:endParaRPr sz="2400"/>
          </a:p>
        </p:txBody>
      </p:sp>
      <p:pic>
        <p:nvPicPr>
          <p:cNvPr id="58791957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91948" y="252245"/>
            <a:ext cx="1100657" cy="733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>Crowdfunder, Inc.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/>
  <cp:revision>160</cp:revision>
  <dcterms:created xsi:type="dcterms:W3CDTF">2013-12-12T18:46:50Z</dcterms:created>
  <dcterms:modified xsi:type="dcterms:W3CDTF">2026-09-19T14:34:27Z</dcterms:modified>
  <cp:category/>
</cp:coreProperties>
</file>